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Credit Facilitation in Nigeria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8C8C8"/>
                </a:solidFill>
              </a:defRPr>
            </a:pPr>
            <a:r>
              <a:t>Frameworks, Challenges, and Opportunities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C8C8C8"/>
                </a:solidFill>
              </a:defRPr>
            </a:pPr>
            <a:r>
              <a:t>January 8,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772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Presentation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• Definition and Importance of Credit Facilitation</a:t>
            </a:r>
          </a:p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• Key Players in Nigeria's Credit Ecosystem</a:t>
            </a:r>
          </a:p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• Regulatory Framework and CBN's Role</a:t>
            </a:r>
          </a:p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• Credit Instruments and Guarantee Schemes</a:t>
            </a:r>
          </a:p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• Credit Infrastructure: Bureaus and Collateral Registry</a:t>
            </a:r>
          </a:p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• Challenges Limiting Credit Access</a:t>
            </a:r>
          </a:p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• Recent Regulatory Interventions</a:t>
            </a:r>
          </a:p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• Opportunities and Way Forward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33333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772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is Credit Facilitation?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• Definition: Mechanisms, instruments, and institutional frameworks enabling credit flow from lenders to borrowers</a:t>
            </a:r>
          </a:p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• Critical for economic growth and development</a:t>
            </a:r>
          </a:p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• Encompasses lending infrastructure, regulatory systems, and risk mitigation tools</a:t>
            </a:r>
          </a:p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• Reduces information asymmetry between lenders and borrowers</a:t>
            </a:r>
          </a:p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• Facilitates financial inclusion and economic 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33333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772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Why Credit Facilitation Matters for Nigeria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• SMEs contribute significantly to GDP but face severe credit constraints</a:t>
            </a:r>
          </a:p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• MSMEs face an unmet credit demand of $32.2 billion (IFC Study)</a:t>
            </a:r>
          </a:p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• Only 13.9% credit bureau coverage vs 66.5% in South Africa</a:t>
            </a:r>
          </a:p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• Agriculture employs two-thirds of workforce but lacks adequate financing</a:t>
            </a:r>
          </a:p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• Credit access drives entrepreneurship, job creation, and poverty reduction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33333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8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KEY PLAYERS IN NIGERIA'S CREDIT ECOSYSTEM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772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Commercial Banks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• Primary source of formal credit in Nigeria</a:t>
            </a:r>
          </a:p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• Ongoing recapitalization requirements to strengthen capital buffers</a:t>
            </a:r>
          </a:p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• Focus on corporate and high-net-worth individuals</a:t>
            </a:r>
          </a:p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• High collateral requirements limit SME access</a:t>
            </a:r>
          </a:p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• CBN's 2026 banking reforms aim to enhance credit intermediation</a:t>
            </a:r>
          </a:p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• Interest rates remain relatively high due to macroeconomic risks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33333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772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Development Finance Institutions (DFIs)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• Development Bank of Nigeria (DBN): Leading DFI for MSMEs</a:t>
            </a:r>
          </a:p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• Provided on-lending to 321,867 MSMEs (66% women-owned, 12% first-time borrowers)</a:t>
            </a:r>
          </a:p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• Bank of Industry (BOI): Industrial and manufacturing sector focus</a:t>
            </a:r>
          </a:p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• Bank of Agriculture (BOA): Agricultural value chain financing</a:t>
            </a:r>
          </a:p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• Offer longer tenure and lower rates compared to commercial banks</a:t>
            </a:r>
          </a:p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• Critical for sectors underserved by commercial banks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33333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772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Microfinance Banks (MFBs)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• Target low-income individuals and micro-enterprises</a:t>
            </a:r>
          </a:p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• Digital MFBs showing rapid growth: Moniepoint reached unicorn status (2024)</a:t>
            </a:r>
          </a:p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• Over 900 licensed MFBs nationwide providing grassroots access</a:t>
            </a:r>
          </a:p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• Challenges: Limited capital base, high operating costs, portfolio quality</a:t>
            </a:r>
          </a:p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• Increasing digitalization improving reach and efficiency</a:t>
            </a:r>
          </a:p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• Critical for last-mile financial inclusion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33333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772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Fintech Lenders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• Number of approved digital lenders surged to 461 (August 2025)</a:t>
            </a:r>
          </a:p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• Nigeria Mobile Lending &amp; Fintech Market valued at $2.1 billion</a:t>
            </a:r>
          </a:p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• Leading players: Moniepoint, FairMoney (10,000+ daily loans), Carbon</a:t>
            </a:r>
          </a:p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• Leverage alternative data and AI for credit scoring</a:t>
            </a:r>
          </a:p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• Enable faster loan approvals reaching underserved segments</a:t>
            </a:r>
          </a:p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• Challenges: Rising borrower indebtedness, regulatory compliance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33333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8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REGULATORY FRAMEWORK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772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Central Bank of Nigeria (CBN) - Regulatory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• Primary regulator of Nigeria's financial system and credit market</a:t>
            </a:r>
          </a:p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• Banking Supervision: Capital adequacy, lending standards, risk management</a:t>
            </a:r>
          </a:p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• Monetary Policy: Interest rate setting, liquidity management</a:t>
            </a:r>
          </a:p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• Development Finance: Intervention funds and guarantee schemes</a:t>
            </a:r>
          </a:p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• Consumer Protection: Guidelines for fair lending practices</a:t>
            </a:r>
          </a:p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• Financial Inclusion mandates and targets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33333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772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Recent CBN Regulatory Interventions (2025-2026)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• Open Banking Framework: Implementation began August 2025, full roll-out early 2026</a:t>
            </a:r>
          </a:p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• Agent Banking Guidelines (October 2025): Exclusivity clauses, transaction limits</a:t>
            </a:r>
          </a:p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• Banking Recapitalization: Strengthening capital buffers for enhanced lending</a:t>
            </a:r>
          </a:p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• Guidelines for Credit Guarantee Companies: Formal regulation introduced</a:t>
            </a:r>
          </a:p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• Digital Lending Oversight: FCCPC Consumer Lending Regulations (July 2025)</a:t>
            </a:r>
          </a:p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• Enhanced credit bureau reporting mandates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33333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772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Credit Instruments and Mechanisms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• Term Loans: Fixed period loans for working capital and asset acquisition</a:t>
            </a:r>
          </a:p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• Overdraft Facilities: Short-term revolving credit for cash flow management</a:t>
            </a:r>
          </a:p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• Trade Finance: Letters of credit, bills discounting for international trade</a:t>
            </a:r>
          </a:p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• Lease Financing: Asset acquisition without large upfront capital</a:t>
            </a:r>
          </a:p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• Invoice Discounting: Working capital against receivables</a:t>
            </a:r>
          </a:p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• Supply Chain Finance: Financing tied to buyer-supplier relationships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33333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8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CREDIT GUARANTEE SCHEMES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772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Agricultural Credit Guarantee Scheme Fund (ACGSF)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• Established 1977 (Decree 20), commenced operations April 1978</a:t>
            </a:r>
          </a:p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• Managed by CBN; Funded 60% Federal Govt, 40% CBN</a:t>
            </a:r>
          </a:p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• Share capital expanded from ₦3 billion to ₦50 billion (2019)</a:t>
            </a:r>
          </a:p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• Guarantees 75% of loan amount in default net of security realized</a:t>
            </a:r>
          </a:p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• Interest Drawback Programme reduces effective borrowing rates</a:t>
            </a:r>
          </a:p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• New Board (Dec 2025) charged with eliminating collateral/location barriers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33333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772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Other Credit Guarantee Schemes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• SME Credit Guarantee Scheme (SMECGS): Guarantees up to 80% of SME loans</a:t>
            </a:r>
          </a:p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• National Collateral Registry Guarantee: Enables movable asset collateralization</a:t>
            </a:r>
          </a:p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• Export Expansion Grant: Supports export-oriented businesses</a:t>
            </a:r>
          </a:p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• Youth Entrepreneurship Support (YES): Targets young entrepreneurs</a:t>
            </a:r>
          </a:p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• Women's Access to Credit: Gender-focused guarantee programs</a:t>
            </a:r>
          </a:p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• Challenge: Low awareness and utilization rates among target beneficiaries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33333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8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CREDIT INFRASTRUCTURE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772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Credit Bureaus in Nigeria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• Licensed bureaus: CRC Credit Bureau, FirstCentral, XDS, others</a:t>
            </a:r>
          </a:p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• Credit Reporting Act mandates commercial banks report to bureaus</a:t>
            </a:r>
          </a:p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• Current coverage: 13.9% (significantly below South Africa's 66.5%)</a:t>
            </a:r>
          </a:p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• Challenges: Incomplete reporting, loopholes in the system, low awareness</a:t>
            </a:r>
          </a:p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• 2025 Digital Lending Regulations require biannual bureau reporting</a:t>
            </a:r>
          </a:p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• Potential: Improved data sharing could reduce default rates and lending costs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33333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772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National Collateral Registry (NCR)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• Established to enable use of movable assets as collateral</a:t>
            </a:r>
          </a:p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• Addresses traditional over-reliance on land/property collateral</a:t>
            </a:r>
          </a:p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• Only 6% of borrowers have had collateral registered on their behalf</a:t>
            </a:r>
          </a:p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• Only 33% of credit providers report customer awareness of registry</a:t>
            </a:r>
          </a:p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• Some lenders still unwilling to accept movable assets as collateral</a:t>
            </a:r>
          </a:p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• Opportunity: Better utilization could significantly expand credit access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33333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8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CHALLENGES LIMITING CREDIT ACCESS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772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Challenge 1: High Interest Rates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• Lending rates remain elevated due to high MPR and macroeconomic risks</a:t>
            </a:r>
          </a:p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• Inflation pressures keeping real rates volatile</a:t>
            </a:r>
          </a:p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• Risk premiums for SMEs and individual borrowers particularly high</a:t>
            </a:r>
          </a:p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• Cost of funds limits borrower ability to service loans profitably</a:t>
            </a:r>
          </a:p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• CBN projects inflation toward single digits in 2026 (potential relief)</a:t>
            </a:r>
          </a:p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• Need for targeted interventions to reduce lending costs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33333"/>
                </a:solidFill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772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Challenge 2: Restrictive Collateral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• Traditional preference for land/property as collateral</a:t>
            </a:r>
          </a:p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• Many SMEs and individuals lack acceptable collateral</a:t>
            </a:r>
          </a:p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• Movable asset collateralization underutilized despite NCR existence</a:t>
            </a:r>
          </a:p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• Lender reluctance to accept alternative collateral forms</a:t>
            </a:r>
          </a:p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• Valuation and enforcement challenges for non-traditional collateral</a:t>
            </a:r>
          </a:p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• Excludes large segment of creditworthy but asset-poor borrowers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33333"/>
                </a:solidFill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772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Challenge 3: Legal and Institutional Gaps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• Weak creditor rights enforcement mechanisms</a:t>
            </a:r>
          </a:p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• Lengthy and costly loan recovery processes through courts</a:t>
            </a:r>
          </a:p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• Insolvency framework inadequate for efficient asset recovery</a:t>
            </a:r>
          </a:p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• Land title registration systems fragmented and unreliable</a:t>
            </a:r>
          </a:p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• Limited capacity of specialized commercial courts</a:t>
            </a:r>
          </a:p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• Creates reluctance among lenders, increases risk premiums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33333"/>
                </a:solidFill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772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Challenge 4: Information Asymmetry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• Low credit bureau coverage (13.9%) limits credit history access</a:t>
            </a:r>
          </a:p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• Incomplete reporting by lenders creates information gaps</a:t>
            </a:r>
          </a:p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• Many borrowers lack formal financial records/documentation</a:t>
            </a:r>
          </a:p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• Digital lenders facilitating 'loan stacking' and multiple defaults</a:t>
            </a:r>
          </a:p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• Alternative data sources underutilized in credit assessment</a:t>
            </a:r>
          </a:p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• Increases perceived lending risk and rejection rates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33333"/>
                </a:solidFill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772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Challenge 5: Macroeconomic Instability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• Exchange rate volatility affects loan pricing and servicing</a:t>
            </a:r>
          </a:p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• Inflation erodes borrower purchasing power and repayment capacity</a:t>
            </a:r>
          </a:p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• Fiscal pressures limit government support for intervention programs</a:t>
            </a:r>
          </a:p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• Business environment uncertainty reduces credit demand</a:t>
            </a:r>
          </a:p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• Policy inconsistency creates planning difficulties for lenders</a:t>
            </a:r>
          </a:p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• CBN forecasts improvement: GDP growth acceleration expected in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33333"/>
                </a:solidFill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8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OPPORTUNITIES AND WAY FORWARD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772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Opportunity 1: Digital Financial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• Open Banking Framework enables better credit assessment via data sharing</a:t>
            </a:r>
          </a:p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• Fintech growth ($2.1B market) expanding access to underserved segments</a:t>
            </a:r>
          </a:p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• AI and alternative data improving credit scoring accuracy</a:t>
            </a:r>
          </a:p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• Mobile money integration reducing transaction costs</a:t>
            </a:r>
          </a:p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• Embedded finance bringing credit to point of need</a:t>
            </a:r>
          </a:p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• Digital identity systems enhancing KYC and reducing fraud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33333"/>
                </a:solidFill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772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Opportunity 2: Strengthening Credit Infrastructure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• Expand credit bureau coverage and reporting comprehensiveness</a:t>
            </a:r>
          </a:p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• Promote NCR awareness and movable collateral utilization</a:t>
            </a:r>
          </a:p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• Integrate digital lending data into formal credit reporting systems</a:t>
            </a:r>
          </a:p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• Develop centralized credit scoring models for underserved segments</a:t>
            </a:r>
          </a:p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• Establish specialized commercial courts for faster loan recovery</a:t>
            </a:r>
          </a:p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• Harmonize credit data standards across all lender categories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33333"/>
                </a:solidFill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772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Opportunity 3: Targeted Sector Interventions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• Scale up ACGSF and SMECGS to reach more beneficiaries</a:t>
            </a:r>
          </a:p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• Develop sector-specific credit products (agriculture, manufacturing, tech)</a:t>
            </a:r>
          </a:p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• Increase DBN capitalization for expanded MSME on-lending</a:t>
            </a:r>
          </a:p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• Create gender-focused credit programs leveraging DBN's 66% women reach</a:t>
            </a:r>
          </a:p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• Support value chain financing to de-risk lending</a:t>
            </a:r>
          </a:p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• Subsidize interest rates for strategic sectors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33333"/>
                </a:solidFill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772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Opportunity 4: Regulatory and Legal Reforms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• Strengthen creditor rights and enforcement mechanisms</a:t>
            </a:r>
          </a:p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• Fast-track insolvency proceedings for loan recovery</a:t>
            </a:r>
          </a:p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• Standardize digital lending regulations across all agencies</a:t>
            </a:r>
          </a:p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• Mandate comprehensive credit bureau reporting with penalties</a:t>
            </a:r>
          </a:p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• Simplify movable asset registration and enforcement processes</a:t>
            </a:r>
          </a:p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• Harmonize regulatory frameworks across CBN, FCCPC, SEC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33333"/>
                </a:solidFill>
              </a:defRPr>
            </a:pPr>
            <a:r>
              <a:t>24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772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Opportunity 5: Capacity Building and Awareness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• Financial literacy programs for borrowers on credit management</a:t>
            </a:r>
          </a:p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• Train lenders on alternative credit assessment methodologies</a:t>
            </a:r>
          </a:p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• Promote awareness of guarantee schemes and NCR among SMEs</a:t>
            </a:r>
          </a:p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• Build capacity of MFBs and community banks for risk management</a:t>
            </a:r>
          </a:p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• Develop standardized business documentation templates for SMEs</a:t>
            </a:r>
          </a:p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• Leverage technology for scalable financial education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33333"/>
                </a:solidFill>
              </a:defRPr>
            </a:pPr>
            <a:r>
              <a:t>25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772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Key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• Accelerate full implementation of Open Banking for better credit decisions</a:t>
            </a:r>
          </a:p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• Mandate universal credit bureau reporting with regulatory teeth</a:t>
            </a:r>
          </a:p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• Increase capitalization of guarantee schemes and DFIs</a:t>
            </a:r>
          </a:p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• Fast-track legal reforms for creditor rights and loan recovery</a:t>
            </a:r>
          </a:p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• Promote alternative collateral through policy incentives for lenders</a:t>
            </a:r>
          </a:p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• Establish national financial literacy program with credit focus</a:t>
            </a:r>
          </a:p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• Create conducive macroeconomic environment for sustainable lending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33333"/>
                </a:solidFill>
              </a:defRPr>
            </a:pPr>
            <a:r>
              <a:t>26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772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• Credit facilitation is critical for Nigeria's economic transformation</a:t>
            </a:r>
          </a:p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• Significant progress made in infrastructure and regulation (2025-2026)</a:t>
            </a:r>
          </a:p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• Persistent challenges require coordinated multi-stakeholder response</a:t>
            </a:r>
          </a:p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• Digital innovation presents transformative opportunities</a:t>
            </a:r>
          </a:p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• Success requires alignment of policy, regulation, and market practice</a:t>
            </a:r>
          </a:p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• The $32.2B MSME credit gap represents both challenge and 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33333"/>
                </a:solidFill>
              </a:defRPr>
            </a:pPr>
            <a:r>
              <a:t>27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C8C8C8"/>
                </a:solidFill>
              </a:defRPr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